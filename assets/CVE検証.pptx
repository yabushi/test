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プレゼンテーションのタイトル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23" name="作者と日付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24" name="本文レベル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スライドのタイトル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スライドのタイトル</a:t>
            </a:r>
          </a:p>
        </p:txBody>
      </p:sp>
      <p:sp>
        <p:nvSpPr>
          <p:cNvPr id="34" name="本文レベル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43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44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61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パセリバター、煎りヘーゼルナッツ、削ったパルメザンチーズがかかったパッパルデッレパスタ1皿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7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7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8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8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セクションタイトル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92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10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10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題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議題のタイトル</a:t>
            </a:r>
          </a:p>
        </p:txBody>
      </p:sp>
      <p:sp>
        <p:nvSpPr>
          <p:cNvPr id="109" name="議題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議題のサブタイトル</a:t>
            </a:r>
          </a:p>
        </p:txBody>
      </p:sp>
      <p:sp>
        <p:nvSpPr>
          <p:cNvPr id="110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議題のトピック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本文レベル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本文レベル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ファクト情報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2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属性</a:t>
            </a:r>
          </a:p>
        </p:txBody>
      </p:sp>
      <p:sp>
        <p:nvSpPr>
          <p:cNvPr id="136" name="本文レベル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/>
            </a:lvl1pPr>
            <a:lvl2pPr marL="638923" indent="-12700">
              <a:spcBef>
                <a:spcPts val="0"/>
              </a:spcBef>
              <a:buSzTx/>
              <a:buNone/>
              <a:defRPr spc="-170" sz="8500"/>
            </a:lvl2pPr>
            <a:lvl3pPr marL="638923" indent="444500">
              <a:spcBef>
                <a:spcPts val="0"/>
              </a:spcBef>
              <a:buSzTx/>
              <a:buNone/>
              <a:defRPr spc="-170" sz="8500"/>
            </a:lvl3pPr>
            <a:lvl4pPr marL="638923" indent="901700">
              <a:spcBef>
                <a:spcPts val="0"/>
              </a:spcBef>
              <a:buSzTx/>
              <a:buNone/>
              <a:defRPr spc="-170" sz="8500"/>
            </a:lvl4pPr>
            <a:lvl5pPr marL="638923" indent="1358900">
              <a:spcBef>
                <a:spcPts val="0"/>
              </a:spcBef>
              <a:buSzTx/>
              <a:buNone/>
              <a:defRPr spc="-170" sz="8500"/>
            </a:lvl5pPr>
          </a:lstStyle>
          <a:p>
            <a:pPr/>
            <a:r>
              <a:t>“重要な引用”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炒飯、ゆで卵、箸が添えられたボウル1杯のサラダ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サーモンケーキ、サラダ、フムスが入ったボウル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パセリバター、煎りヘーゼルナッツ、削ったパルメザンチーズがかかったパッパルデッレパスタ1皿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炒飯、ゆで卵、箸が添えられたボウル1杯のサラダ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スライドのタイトル</a:t>
            </a:r>
          </a:p>
        </p:txBody>
      </p:sp>
      <p:sp>
        <p:nvSpPr>
          <p:cNvPr id="3" name="本文レベル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978411" y="13125399"/>
            <a:ext cx="414681" cy="330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ubuntutym2.u-toyama.ac.jp/ubuntu/noble/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stratascale.com/vulnerability-alert-CVE-2025-32463-sudo-chroot" TargetMode="Externa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プレゼンテーションのタイトル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プレゼンテーションのサブタイトル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目的・背景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目的・背景</a:t>
            </a:r>
          </a:p>
        </p:txBody>
      </p:sp>
      <p:sp>
        <p:nvSpPr>
          <p:cNvPr id="176" name="スライドのサブタイトル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OSCPに向けて、課題を色々こなしてはいましたが、脆弱性スキャンをかけてPoCを探して実行するだけの作業になりつつあった。（これは嘘だが。。）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96239" indent="-396239" defTabSz="1584920">
              <a:spcBef>
                <a:spcPts val="2900"/>
              </a:spcBef>
              <a:defRPr sz="3120"/>
            </a:pPr>
            <a:r>
              <a:t>OSCPに向けて、課題を色々こなしてはいましたが、脆弱性スキャンをかけてPoCを探して実行するだけの作業になりつつあった。（これは嘘だが。。）</a:t>
            </a:r>
          </a:p>
          <a:p>
            <a:pPr marL="396239" indent="-396239" defTabSz="1584920">
              <a:spcBef>
                <a:spcPts val="2900"/>
              </a:spcBef>
              <a:defRPr sz="3120"/>
            </a:pPr>
            <a:r>
              <a:t>作る→ハックする→修正する→修正を検証する　の流れをやってみたい（</a:t>
            </a:r>
          </a:p>
          <a:p>
            <a:pPr marL="396239" indent="-396239" defTabSz="1584920">
              <a:spcBef>
                <a:spcPts val="2900"/>
              </a:spcBef>
              <a:defRPr sz="3120"/>
            </a:pPr>
          </a:p>
          <a:p>
            <a:pPr marL="396239" indent="-396239" defTabSz="1584920">
              <a:spcBef>
                <a:spcPts val="2900"/>
              </a:spcBef>
              <a:defRPr sz="3120"/>
            </a:pPr>
            <a:r>
              <a:t>エクスプロイトコード（PoC）が GitHub 等で</a:t>
            </a:r>
            <a:r>
              <a:rPr>
                <a:latin typeface="+mn-lt"/>
                <a:ea typeface="+mn-ea"/>
                <a:cs typeface="+mn-cs"/>
                <a:sym typeface="ヒラギノ角ゴ ProN W6"/>
              </a:rPr>
              <a:t>即座に公開され、容易に再現可能</a:t>
            </a:r>
            <a:r>
              <a:t>。</a:t>
            </a:r>
          </a:p>
          <a:p>
            <a:pPr marL="396239" indent="-396239" defTabSz="1584920">
              <a:spcBef>
                <a:spcPts val="2900"/>
              </a:spcBef>
              <a:defRPr sz="3120"/>
            </a:pPr>
            <a:r>
              <a:t>技術的難易度が低く、攻撃者にとって極めて実用的な内容</a:t>
            </a:r>
          </a:p>
          <a:p>
            <a:pPr marL="396239" indent="-396239" defTabSz="1584920">
              <a:spcBef>
                <a:spcPts val="2900"/>
              </a:spcBef>
              <a:defRPr sz="3120"/>
            </a:pPr>
            <a:r>
              <a:t>sudoはほぼ全 Linux ディストリビューションにプリインストールされている。</a:t>
            </a:r>
          </a:p>
          <a:p>
            <a:pPr marL="396239" indent="-396239" defTabSz="1584920">
              <a:spcBef>
                <a:spcPts val="2900"/>
              </a:spcBef>
              <a:defRPr sz="3120"/>
            </a:pPr>
            <a:r>
              <a:t>「影響範囲の広さと PoC 公開の速さ、シンプルさゆえに、業界内では“今すぐパッチを当てるべき”脆弱性として注目されました」</a:t>
            </a:r>
          </a:p>
          <a:p>
            <a:pPr marL="396239" indent="-396239" defTabSz="1584920">
              <a:spcBef>
                <a:spcPts val="2900"/>
              </a:spcBef>
              <a:defRPr sz="3120"/>
            </a:pPr>
            <a:r>
              <a:t>私の周りでもざわつきが感じられた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前提知識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前提知識</a:t>
            </a:r>
          </a:p>
        </p:txBody>
      </p:sp>
      <p:sp>
        <p:nvSpPr>
          <p:cNvPr id="180" name="Sudoについ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Sudoについて</a:t>
            </a:r>
          </a:p>
        </p:txBody>
      </p:sp>
      <p:sp>
        <p:nvSpPr>
          <p:cNvPr id="181" name="スライドの箇条書きテキスト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2" name="スクリーンショット 2025-08-06 22.45.37.png" descr="スクリーンショット 2025-08-06 22.45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04449" y="6032500"/>
            <a:ext cx="13490930" cy="56032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前提知識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前提知識</a:t>
            </a:r>
          </a:p>
        </p:txBody>
      </p:sp>
      <p:sp>
        <p:nvSpPr>
          <p:cNvPr id="185" name="chrootについ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chrootについて</a:t>
            </a:r>
          </a:p>
        </p:txBody>
      </p:sp>
      <p:sp>
        <p:nvSpPr>
          <p:cNvPr id="186" name="スライドの箇条書きテキスト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VE解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CVE解説</a:t>
            </a:r>
          </a:p>
        </p:txBody>
      </p:sp>
      <p:sp>
        <p:nvSpPr>
          <p:cNvPr id="189" name="/etc/nsswitch.confファイルについ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/etc/nsswitch.confファイルについて</a:t>
            </a:r>
          </a:p>
        </p:txBody>
      </p:sp>
      <p:sp>
        <p:nvSpPr>
          <p:cNvPr id="190" name="/etc/nsswitch.confは、Linux や他の Unix 系 OS において「名前サービススイッチ（Name Service Switch）」の動作を制御する設定ファイルです。具体的には、ユーザー名やグループ名、ホスト名、パスワード情報などの 名前解決や情報の取得をどのソースから行うか を定義しています。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48639" indent="-548639" defTabSz="2194505">
              <a:spcBef>
                <a:spcPts val="4000"/>
              </a:spcBef>
              <a:defRPr sz="4319"/>
            </a:pPr>
            <a:r>
              <a:t>/etc/nsswitch.confは、Linux や他の Unix 系 OS において「名前サービススイッチ（Name Service Switch）」の動作を制御する設定ファイルです。具体的には、ユーザー名やグループ名、ホスト名、パスワード情報などの </a:t>
            </a:r>
            <a:r>
              <a:rPr>
                <a:latin typeface="+mn-lt"/>
                <a:ea typeface="+mn-ea"/>
                <a:cs typeface="+mn-cs"/>
                <a:sym typeface="ヒラギノ角ゴ ProN W6"/>
              </a:rPr>
              <a:t>名前解決や情報の取得をどのソースから行うか</a:t>
            </a:r>
            <a:r>
              <a:t> を定義しています。</a:t>
            </a:r>
          </a:p>
          <a:p>
            <a:pPr marL="548639" indent="-548639" defTabSz="2194505">
              <a:spcBef>
                <a:spcPts val="4000"/>
              </a:spcBef>
              <a:defRPr sz="4319"/>
            </a:pPr>
            <a:r>
              <a:t>ユーザー・ホスト名などの解決方法と優先順位を設定するファイル。</a:t>
            </a:r>
          </a:p>
          <a:p>
            <a:pPr marL="548639" indent="-548639" defTabSz="2194505">
              <a:spcBef>
                <a:spcPts val="4000"/>
              </a:spcBef>
              <a:defRPr sz="4319"/>
            </a:pPr>
            <a:r>
              <a:t>この指定により、</a:t>
            </a:r>
            <a:r>
              <a:rPr sz="1170">
                <a:latin typeface="Courier"/>
                <a:ea typeface="Courier"/>
                <a:cs typeface="Courier"/>
                <a:sym typeface="Courier"/>
              </a:rPr>
              <a:t>glibc</a:t>
            </a:r>
            <a:r>
              <a:t> の NSS（Name Service Switch）機能が </a:t>
            </a:r>
            <a:r>
              <a:rPr sz="1170">
                <a:latin typeface="Courier"/>
                <a:ea typeface="Courier"/>
                <a:cs typeface="Courier"/>
                <a:sym typeface="Courier"/>
              </a:rPr>
              <a:t>/lib/libnss_woot1337.so.2</a:t>
            </a:r>
            <a:r>
              <a:t> などを読み込もうとします。</a:t>
            </a:r>
          </a:p>
          <a:p>
            <a:pPr marL="548639" indent="-548639" defTabSz="2194505">
              <a:spcBef>
                <a:spcPts val="4000"/>
              </a:spcBef>
              <a:defRPr sz="4319"/>
            </a:pPr>
            <a:r>
              <a:t>ソースの名前が共有オブジェクト（ライブラリ）のパスの一部としても使用されている</a:t>
            </a:r>
          </a:p>
        </p:txBody>
      </p:sp>
      <p:pic>
        <p:nvPicPr>
          <p:cNvPr id="191" name="スクリーンショット 2025-08-06 21.16.26.png" descr="スクリーンショット 2025-08-06 21.16.2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37058" y="7618854"/>
            <a:ext cx="9410488" cy="55678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VE解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CVE解説</a:t>
            </a:r>
          </a:p>
        </p:txBody>
      </p:sp>
      <p:sp>
        <p:nvSpPr>
          <p:cNvPr id="194" name="スライドのサブタイトル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スライドの箇条書きテキスト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6" name="スクリーンショット 2025-08-06 22.36.59.png" descr="スクリーンショット 2025-08-06 22.36.5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36771" y="3982761"/>
            <a:ext cx="11087101" cy="5448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スクリーンショット 2025-08-06 22.37.13.png" descr="スクリーンショット 2025-08-06 22.37.1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25175" y="2641600"/>
            <a:ext cx="10515601" cy="8432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環境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環境</a:t>
            </a:r>
          </a:p>
        </p:txBody>
      </p:sp>
      <p:sp>
        <p:nvSpPr>
          <p:cNvPr id="200" name="スライドのサブタイトル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Ubuntu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Ubuntu</a:t>
            </a:r>
          </a:p>
          <a:p>
            <a:pPr/>
            <a:r>
              <a:t>lowprivユーザにsudoで</a:t>
            </a:r>
          </a:p>
          <a:p>
            <a:pPr/>
          </a:p>
          <a:p>
            <a:pPr/>
            <a:r>
              <a:rPr u="sng">
                <a:hlinkClick r:id="rId2" invalidUrl="" action="" tgtFrame="" tooltip="" history="1" highlightClick="0" endSnd="0"/>
              </a:rPr>
              <a:t>http://ubuntutym2.u-toyama.ac.jp/ubuntu/noble/</a:t>
            </a:r>
          </a:p>
        </p:txBody>
      </p:sp>
      <p:graphicFrame>
        <p:nvGraphicFramePr>
          <p:cNvPr id="202" name="表1"/>
          <p:cNvGraphicFramePr/>
          <p:nvPr/>
        </p:nvGraphicFramePr>
        <p:xfrm>
          <a:off x="12192000" y="4249511"/>
          <a:ext cx="10985500" cy="825601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657600"/>
                <a:gridCol w="3657600"/>
                <a:gridCol w="3657600"/>
              </a:tblGrid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3200">
                          <a:sym typeface="ヒラギノ角ゴ ProN W6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3200">
                          <a:sym typeface="ヒラギノ角ゴ ProN W6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3200">
                          <a:sym typeface="ヒラギノ角ゴ ProN W6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648662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OS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Ubuntu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648662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sudo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648662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chroot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648662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User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環境メモ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環境メモ</a:t>
            </a:r>
          </a:p>
        </p:txBody>
      </p:sp>
      <p:sp>
        <p:nvSpPr>
          <p:cNvPr id="205" name="スライドのサブタイトル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Sudoは脆弱なバージョンのソースからコンパイルしてmake install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Sudoは脆弱なバージョンのソースからコンパイルしてmake install</a:t>
            </a:r>
          </a:p>
        </p:txBody>
      </p:sp>
      <p:pic>
        <p:nvPicPr>
          <p:cNvPr id="207" name="スクリーンショット 2025-08-06 22.27.29.png" descr="スクリーンショット 2025-08-06 22.27.2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06910" y="194911"/>
            <a:ext cx="10576878" cy="3980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スクリーンショット 2025-08-06 22.33.23.png" descr="スクリーンショット 2025-08-06 22.33.2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73579" y="7016985"/>
            <a:ext cx="15344296" cy="43996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検証してみた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検証してみた</a:t>
            </a:r>
          </a:p>
        </p:txBody>
      </p:sp>
      <p:sp>
        <p:nvSpPr>
          <p:cNvPr id="211" name="準備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準備</a:t>
            </a:r>
          </a:p>
        </p:txBody>
      </p:sp>
      <p:sp>
        <p:nvSpPr>
          <p:cNvPr id="212" name="Lowprivユーザを作成直後はsudoersファイルにて権限を付与されていないので、sudoコマンドでroot権限でのプログラム実行ができない。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Lowprivユーザを作成直後はsudoersファイルにて権限を付与されていないので、sudoコマンドでroot権限でのプログラム実行ができない。</a:t>
            </a:r>
          </a:p>
          <a:p>
            <a:pPr/>
          </a:p>
          <a:p>
            <a:pPr/>
            <a:r>
              <a:t>まずは、lowprivユーザにsudoの全権限を与えてみる</a:t>
            </a:r>
          </a:p>
        </p:txBody>
      </p:sp>
      <p:pic>
        <p:nvPicPr>
          <p:cNvPr id="213" name="スクリーンショット 2025-08-06 0.27.51.png" descr="スクリーンショット 2025-08-06 0.27.5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71914" y="6021785"/>
            <a:ext cx="6404441" cy="1513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スクリーンショット 2025-08-06 0.36.28.png" descr="スクリーンショット 2025-08-06 0.36.2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44608" y="11379092"/>
            <a:ext cx="4102101" cy="104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スクリーンショット 2025-08-06 1.01.25.png" descr="スクリーンショット 2025-08-06 1.01.2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209687" y="11785480"/>
            <a:ext cx="6553201" cy="774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スクリーンショット 2025-08-06 1.03.03.png" descr="スクリーンショット 2025-08-06 1.03.03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82231" y="11371871"/>
            <a:ext cx="7442201" cy="1346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スクリーンショット 2025-08-06 14.14.11.png" descr="スクリーンショット 2025-08-06 14.14.11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705657" y="709791"/>
            <a:ext cx="4206630" cy="3173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検証してみた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検証してみた</a:t>
            </a:r>
          </a:p>
        </p:txBody>
      </p:sp>
      <p:sp>
        <p:nvSpPr>
          <p:cNvPr id="220" name="準備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準備</a:t>
            </a:r>
          </a:p>
        </p:txBody>
      </p:sp>
      <p:sp>
        <p:nvSpPr>
          <p:cNvPr id="221" name="Chroot先の/webディレクトリに、コマンド実行に必要なファイルを配置する ここでは、bashとidコマンドが実行可能となるようにしています。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t>Chroot先の/webディレクトリに、コマンド実行に必要なファイルを配置する</a:t>
            </a:r>
            <a:br/>
            <a:r>
              <a:t>ここでは、bashとidコマンドが実行可能となるようにしています。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</a:p>
          <a:p>
            <a:pPr marL="524255" indent="-524255" defTabSz="2096971">
              <a:spcBef>
                <a:spcPts val="3800"/>
              </a:spcBef>
              <a:defRPr sz="4128"/>
            </a:pP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次に、lowprivユーザに/webディレクトリ内にchrootした状態に限定し、sudoの全権限を与えてみる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実行する</a:t>
            </a:r>
          </a:p>
        </p:txBody>
      </p:sp>
      <p:pic>
        <p:nvPicPr>
          <p:cNvPr id="222" name="スクリーンショット 2025-08-06 0.36.28.png" descr="スクリーンショット 2025-08-06 0.36.2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96265" y="10114058"/>
            <a:ext cx="4102101" cy="104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スクリーンショット 2025-08-06 14.29.51.png" descr="スクリーンショット 2025-08-06 14.29.5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705972" y="5039560"/>
            <a:ext cx="4398275" cy="33764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スクリーンショット 2025-08-06 14.30.35.png" descr="スクリーンショット 2025-08-06 14.30.3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14655" y="11566859"/>
            <a:ext cx="13615047" cy="14331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検証してみた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検証してみた</a:t>
            </a:r>
          </a:p>
        </p:txBody>
      </p:sp>
      <p:sp>
        <p:nvSpPr>
          <p:cNvPr id="227" name="準備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準備</a:t>
            </a:r>
          </a:p>
        </p:txBody>
      </p:sp>
      <p:sp>
        <p:nvSpPr>
          <p:cNvPr id="228" name="Lowprivユーザにsudoの権限を与えると同時に、CHROOTにて実行環境を制限する。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Lowprivユーザにsudoの権限を与えると同時に、CHROOTにて実行環境を制限する。</a:t>
            </a:r>
          </a:p>
          <a:p>
            <a:pPr/>
            <a:r>
              <a:t>/web配下のみでlowprivユーザがroot権限でプログラムを実行できることを確認。また、</a:t>
            </a:r>
          </a:p>
        </p:txBody>
      </p:sp>
      <p:pic>
        <p:nvPicPr>
          <p:cNvPr id="229" name="スクリーンショット 2025-08-06 0.27.51.png" descr="スクリーンショット 2025-08-06 0.27.5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590668" y="2520023"/>
            <a:ext cx="5105401" cy="1206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スクリーンショット 2025-08-06 0.36.28.png" descr="スクリーンショット 2025-08-06 0.36.2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566707" y="8830689"/>
            <a:ext cx="4102101" cy="104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スクリーンショット 2025-08-06 1.01.25.png" descr="スクリーンショット 2025-08-06 1.01.2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209688" y="11785480"/>
            <a:ext cx="6553201" cy="774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スクリーンショット 2025-08-06 1.03.03.png" descr="スクリーンショット 2025-08-06 1.03.03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82232" y="11371870"/>
            <a:ext cx="7442201" cy="1346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スクリーンショット 2025-08-06 14.14.11.png" descr="スクリーンショット 2025-08-06 14.14.11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705657" y="709791"/>
            <a:ext cx="4206631" cy="3173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検証してみた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検証してみた</a:t>
            </a:r>
          </a:p>
        </p:txBody>
      </p:sp>
      <p:sp>
        <p:nvSpPr>
          <p:cNvPr id="236" name="攻撃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攻撃</a:t>
            </a:r>
          </a:p>
        </p:txBody>
      </p:sp>
      <p:sp>
        <p:nvSpPr>
          <p:cNvPr id="237" name="Lowprivユーザの権限を奪取した前提で実施。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Lowprivユーザの権限を奪取した前提で実施。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検証してみた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検証してみた</a:t>
            </a:r>
          </a:p>
        </p:txBody>
      </p:sp>
      <p:sp>
        <p:nvSpPr>
          <p:cNvPr id="240" name="スライドのサブタイトル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スライドの箇条書きテキスト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ブルーチームが実施するべきこと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ブルーチームが実施するべきこと</a:t>
            </a:r>
          </a:p>
        </p:txBody>
      </p:sp>
      <p:sp>
        <p:nvSpPr>
          <p:cNvPr id="244" name="スライドのサブタイトル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スライドの箇条書きテキスト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所感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所感</a:t>
            </a:r>
          </a:p>
        </p:txBody>
      </p:sp>
      <p:sp>
        <p:nvSpPr>
          <p:cNvPr id="248" name="スライドのサブタイトル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9" name="スライドの箇条書きテキスト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参考文献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参考文献</a:t>
            </a:r>
          </a:p>
        </p:txBody>
      </p:sp>
      <p:sp>
        <p:nvSpPr>
          <p:cNvPr id="252" name="スライドのサブタイトル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3" name="CVE-2025-32463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CVE-2025-32463</a:t>
            </a:r>
          </a:p>
          <a:p>
            <a:pPr lvl="1"/>
            <a:r>
              <a:t>Write-up：</a:t>
            </a:r>
            <a:r>
              <a:rPr u="sng">
                <a:hlinkClick r:id="rId2" invalidUrl="" action="" tgtFrame="" tooltip="" history="1" highlightClick="0" endSnd="0"/>
              </a:rPr>
              <a:t>https://www.stratascale.com/vulnerability-alert-CVE-2025-32463-sudo-chroot</a:t>
            </a:r>
          </a:p>
          <a:p>
            <a:pPr lvl="1"/>
            <a:r>
              <a:t>PoC GitHub： https://github.com/mirchr/CVE-2025-32463-sudo-chwoot/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スライドのタイトル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6" name="スライドのサブタイトル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スライドの箇条書きテキスト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8" name="┌────────────────────────────┐…"/>
          <p:cNvSpPr txBox="1"/>
          <p:nvPr/>
        </p:nvSpPr>
        <p:spPr>
          <a:xfrm>
            <a:off x="14863368" y="81141"/>
            <a:ext cx="6210301" cy="670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┌────────────────────────────┐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① lowprivユーザがsudo実行   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└────────────┬────────────┘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             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             ▼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┌────────────────────────────┐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② sudoがユーザの有効性を確認│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   → getpwuid(), getpwnam() 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             ▼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③ glibcがnsswitch.confを参照│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  例: passwd: files mymodule│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             ▼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④ "mymodule"のNSSライブラリ 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  (libnss_mymodule.so.2)を読込│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             ▼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⑤ ライブラリ初期化処理が実行│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  → constructor / -init     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            ▼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⑥ 攻撃用コードがrootで実行  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│   → setuid(0); exec("/bin/sh")│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600"/>
            </a:pPr>
            <a:r>
              <a:t>└────────────────────────────┘</a:t>
            </a:r>
          </a:p>
        </p:txBody>
      </p:sp>
      <p:pic>
        <p:nvPicPr>
          <p:cNvPr id="259" name="スクリーンショット 2025-08-07 0.14.50.png" descr="スクリーンショット 2025-08-07 0.14.5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2027" y="3560941"/>
            <a:ext cx="10845801" cy="787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スクリーンショット 2025-08-07 0.15.11.png" descr="スクリーンショット 2025-08-07 0.15.1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11598" y="6499624"/>
            <a:ext cx="10452101" cy="6819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